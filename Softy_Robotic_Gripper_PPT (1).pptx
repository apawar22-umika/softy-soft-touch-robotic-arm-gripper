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Servo Angle</c:v>
                </c:pt>
              </c:strCache>
            </c:strRef>
          </c:tx>
          <c:spPr>
            <a:solidFill>
              <a:srgbClr val="00B4D8"/>
            </a:solidFill>
            <a:ln w="31680">
              <a:solidFill>
                <a:srgbClr val="00B4D8"/>
              </a:solidFill>
              <a:round/>
            </a:ln>
          </c:spPr>
          <c:marker>
            <c:symbol val="circle"/>
            <c:size val="6"/>
            <c:spPr>
              <a:solidFill>
                <a:srgbClr val="00B4D8"/>
              </a:solidFill>
            </c:spPr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3168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0</c:v>
                </c:pt>
                <c:pt idx="1">
                  <c:v>250</c:v>
                </c:pt>
                <c:pt idx="2">
                  <c:v>500</c:v>
                </c:pt>
                <c:pt idx="3">
                  <c:v>1000</c:v>
                </c:pt>
                <c:pt idx="4">
                  <c:v>1500</c:v>
                </c:pt>
                <c:pt idx="5">
                  <c:v>2000</c:v>
                </c:pt>
                <c:pt idx="6">
                  <c:v>2500</c:v>
                </c:pt>
                <c:pt idx="7">
                  <c:v>3000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95</c:v>
                </c:pt>
                <c:pt idx="6">
                  <c:v>110</c:v>
                </c:pt>
                <c:pt idx="7">
                  <c:v>120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5154255"/>
        <c:axId val="19662853"/>
      </c:lineChart>
      <c:catAx>
        <c:axId val="2515425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en-IN" sz="10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FSR Value (ADC)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55555"/>
                </a:solidFill>
                <a:uFillTx/>
                <a:latin typeface="Arial"/>
              </a:defRPr>
            </a:pPr>
          </a:p>
        </c:txPr>
        <c:crossAx val="19662853"/>
        <c:crosses val="autoZero"/>
        <c:auto val="1"/>
        <c:lblAlgn val="ctr"/>
        <c:lblOffset val="100"/>
        <c:noMultiLvlLbl val="0"/>
      </c:catAx>
      <c:valAx>
        <c:axId val="19662853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en-IN" sz="10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Servo Angle (°)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55555"/>
                </a:solidFill>
                <a:uFillTx/>
                <a:latin typeface="Arial"/>
              </a:defRPr>
            </a:pPr>
          </a:p>
        </c:txPr>
        <c:crossAx val="2515425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7CD1B6-5B98-4A0C-9473-051330E97C63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A45F565-5C88-4ED5-8D8F-74BCE633110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18ADB5D-B149-494D-8B59-ADD72954BE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A8A1AAE-9A9D-45F3-BF72-411B13FE2F9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759729C-FF9C-4378-938C-4E5017063E1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3EA033E-3081-4ED2-BF77-1AFC1D2F57C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BD85B03-3696-4070-82A3-C29778BAB96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0D63A2E-9C76-4D87-85EA-A566AA10FE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F0B6285-E2FF-4144-ABAB-8F9A5AA2484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C179D10-ED77-4891-A3A1-14C28E3EF5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498E910-083A-4B72-A989-A0E77BC2173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4BBFD44-3791-45F7-A56D-38EF64CB7BC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822960"/>
            <a:ext cx="3200040" cy="320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498080" y="-457200"/>
            <a:ext cx="2559960" cy="2559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274320" y="1828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MIT Academy of Engineering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74320" y="77724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pc="799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SOFTY</a:t>
            </a:r>
            <a:endParaRPr lang="en-GB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274320" y="19659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Soft Touch Robotic Arm Gripper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274320" y="251460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Force-Sensing Based Adaptive Gripping System using ESP32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74320" y="3017520"/>
            <a:ext cx="3657240" cy="36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74320" y="320040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Ashutosh Sharma (202501070190)  | Samrudhi Naik (202501070179) | Amruta Pawar (202501070177) 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74320" y="356616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Guided by: Prof. Dhananjay Devare  |  Dept. of ENTC Engineering  |  May 2026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74320" y="393192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Course: Integrating Sensors &amp; Actuators (2307162L)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PRESENTATION OUTLINE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365760" y="91440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365760" y="91440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365760" y="91440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960120" y="91440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Introduction &amp; Motivation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365760" y="187452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365760" y="187452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365760" y="187452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960120" y="187452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Problem Statement &amp; Objectives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365760" y="283464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365760" y="283464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365760" y="28346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960120" y="283464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System Design &amp; DAS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365760" y="379476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365760" y="379476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365760" y="379476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960120" y="379476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Components &amp; Bill of Material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4846320" y="91440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4846320" y="91440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4846320" y="91440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5440680" y="91440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Simulation &amp; Circuit Diagram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4846320" y="187452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4846320" y="187452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4846320" y="187452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5440680" y="187452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Observation Results &amp; Graphs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846320" y="2834640"/>
            <a:ext cx="42058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4846320" y="2834640"/>
            <a:ext cx="502560" cy="776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4846320" y="28346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07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5440680" y="283464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Conclusion &amp; Future Scope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INTRODUCTION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274320" y="914400"/>
            <a:ext cx="42058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11480" y="105156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448200" y="1088280"/>
            <a:ext cx="429480" cy="42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4"/>
          <p:cNvSpPr/>
          <p:nvPr/>
        </p:nvSpPr>
        <p:spPr>
          <a:xfrm>
            <a:off x="1024200" y="102420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Soft Robotics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024200" y="135324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Enables safe handling of delicate and fragile objects that conventional rigid grippers cannot manage.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4754880" y="914400"/>
            <a:ext cx="42058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4892040" y="105156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4928760" y="1088280"/>
            <a:ext cx="429480" cy="42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8"/>
          <p:cNvSpPr/>
          <p:nvPr/>
        </p:nvSpPr>
        <p:spPr>
          <a:xfrm>
            <a:off x="5504760" y="102420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The Problem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504760" y="135324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Conventional grippers apply fixed force with no feedback — causing object damage or insecure gripping.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274320" y="2834640"/>
            <a:ext cx="42058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411480" y="297180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448200" y="3008520"/>
            <a:ext cx="429480" cy="42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2"/>
          <p:cNvSpPr/>
          <p:nvPr/>
        </p:nvSpPr>
        <p:spPr>
          <a:xfrm>
            <a:off x="1024200" y="2944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Adaptive Sensing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024200" y="32734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Real-time force sensing is required to bridge the gap between rigid power and a delicate touch.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4754880" y="2834640"/>
            <a:ext cx="42058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4892040" y="297180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3" descr="preencoded.png"/>
          <p:cNvPicPr/>
          <p:nvPr/>
        </p:nvPicPr>
        <p:blipFill>
          <a:blip r:embed="rId4"/>
          <a:stretch/>
        </p:blipFill>
        <p:spPr>
          <a:xfrm>
            <a:off x="4928760" y="3008520"/>
            <a:ext cx="429480" cy="42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6"/>
          <p:cNvSpPr/>
          <p:nvPr/>
        </p:nvSpPr>
        <p:spPr>
          <a:xfrm>
            <a:off x="5504760" y="2944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Our Approach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5504760" y="32734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Integrating FSR-402 sensor + ESP32 + Servo for a closed-loop adaptive gripping system.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PROBLEM STATEMENT &amp; OBJECTIVES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274320" y="822960"/>
            <a:ext cx="3931560" cy="397728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411480" y="8686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Problem Statement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411480" y="1325880"/>
            <a:ext cx="3657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Conventional robotic grippers apply fixed force without sensing feedback, which can damage delicate objects or lead to inefficient gripping.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system is required that can dynamically adjust grip strength based on real-time force feedback to prevent slippage or damage.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4572000" y="822960"/>
            <a:ext cx="429732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709160" y="86868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Objectives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preencoded.png"/>
          <p:cNvPicPr/>
          <p:nvPr/>
        </p:nvPicPr>
        <p:blipFill>
          <a:blip r:embed="rId1"/>
          <a:stretch/>
        </p:blipFill>
        <p:spPr>
          <a:xfrm>
            <a:off x="4663440" y="14083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7"/>
          <p:cNvSpPr/>
          <p:nvPr/>
        </p:nvSpPr>
        <p:spPr>
          <a:xfrm>
            <a:off x="5047560" y="1371600"/>
            <a:ext cx="370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Develop a soft-touch gripper featuring integrated force sensing capability.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preencoded.png"/>
          <p:cNvPicPr/>
          <p:nvPr/>
        </p:nvPicPr>
        <p:blipFill>
          <a:blip r:embed="rId2"/>
          <a:stretch/>
        </p:blipFill>
        <p:spPr>
          <a:xfrm>
            <a:off x="4663440" y="22129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8"/>
          <p:cNvSpPr/>
          <p:nvPr/>
        </p:nvSpPr>
        <p:spPr>
          <a:xfrm>
            <a:off x="5047560" y="2176200"/>
            <a:ext cx="370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Implement real-time, closed-loop control for precision gripping.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2" descr="preencoded.png"/>
          <p:cNvPicPr/>
          <p:nvPr/>
        </p:nvPicPr>
        <p:blipFill>
          <a:blip r:embed="rId3"/>
          <a:stretch/>
        </p:blipFill>
        <p:spPr>
          <a:xfrm>
            <a:off x="4663440" y="30175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9"/>
          <p:cNvSpPr/>
          <p:nvPr/>
        </p:nvSpPr>
        <p:spPr>
          <a:xfrm>
            <a:off x="5047560" y="2980800"/>
            <a:ext cx="370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Ensure safe, adaptive gripping for delicate and fragile objects.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3" descr="preencoded.png"/>
          <p:cNvPicPr/>
          <p:nvPr/>
        </p:nvPicPr>
        <p:blipFill>
          <a:blip r:embed="rId4"/>
          <a:stretch/>
        </p:blipFill>
        <p:spPr>
          <a:xfrm>
            <a:off x="4663440" y="38221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0"/>
          <p:cNvSpPr/>
          <p:nvPr/>
        </p:nvSpPr>
        <p:spPr>
          <a:xfrm>
            <a:off x="5047560" y="3785760"/>
            <a:ext cx="370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Monitor power consumption and implement overload protection.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DATA ACQUISITION SYSTEM (DAS)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576000" y="1005840"/>
            <a:ext cx="1737000" cy="219420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170360" y="1170360"/>
            <a:ext cx="548280" cy="54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1188720" y="11887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4"/>
          <p:cNvSpPr/>
          <p:nvPr/>
        </p:nvSpPr>
        <p:spPr>
          <a:xfrm>
            <a:off x="649080" y="1801440"/>
            <a:ext cx="159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FSR 402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Sensor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649080" y="246888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Detects Grip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Pressure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2313360" y="2103120"/>
            <a:ext cx="347400" cy="360"/>
          </a:xfrm>
          <a:prstGeom prst="line">
            <a:avLst/>
          </a:prstGeom>
          <a:ln w="317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2633400" y="1993320"/>
            <a:ext cx="118440" cy="219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2660760" y="1005840"/>
            <a:ext cx="1737000" cy="219420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3255120" y="1170360"/>
            <a:ext cx="548280" cy="54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2"/>
          <a:stretch/>
        </p:blipFill>
        <p:spPr>
          <a:xfrm>
            <a:off x="3273480" y="11887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0"/>
          <p:cNvSpPr/>
          <p:nvPr/>
        </p:nvSpPr>
        <p:spPr>
          <a:xfrm>
            <a:off x="2734200" y="1801440"/>
            <a:ext cx="159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ESP32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Micro controller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2734200" y="246888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Processes &amp;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Analyses Data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4398120" y="2103120"/>
            <a:ext cx="347400" cy="360"/>
          </a:xfrm>
          <a:prstGeom prst="line">
            <a:avLst/>
          </a:prstGeom>
          <a:ln w="317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4718160" y="1993320"/>
            <a:ext cx="118440" cy="219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4745880" y="1005840"/>
            <a:ext cx="1737000" cy="219420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5340240" y="1170360"/>
            <a:ext cx="548280" cy="54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3"/>
          <a:stretch/>
        </p:blipFill>
        <p:spPr>
          <a:xfrm>
            <a:off x="5358240" y="11887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16"/>
          <p:cNvSpPr/>
          <p:nvPr/>
        </p:nvSpPr>
        <p:spPr>
          <a:xfrm>
            <a:off x="4818960" y="1801440"/>
            <a:ext cx="159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MG996R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Servo Motor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4818960" y="246888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Adjusts Grip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Strength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6482880" y="2103120"/>
            <a:ext cx="347400" cy="360"/>
          </a:xfrm>
          <a:prstGeom prst="line">
            <a:avLst/>
          </a:prstGeom>
          <a:ln w="317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6803280" y="1993320"/>
            <a:ext cx="118440" cy="219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0"/>
          <p:cNvSpPr/>
          <p:nvPr/>
        </p:nvSpPr>
        <p:spPr>
          <a:xfrm>
            <a:off x="6830640" y="1005840"/>
            <a:ext cx="1737000" cy="219420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7425000" y="1170360"/>
            <a:ext cx="548280" cy="54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3" descr="preencoded.png"/>
          <p:cNvPicPr/>
          <p:nvPr/>
        </p:nvPicPr>
        <p:blipFill>
          <a:blip r:embed="rId4"/>
          <a:stretch/>
        </p:blipFill>
        <p:spPr>
          <a:xfrm>
            <a:off x="7443360" y="118872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22"/>
          <p:cNvSpPr/>
          <p:nvPr/>
        </p:nvSpPr>
        <p:spPr>
          <a:xfrm>
            <a:off x="6903720" y="1801440"/>
            <a:ext cx="159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Soft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Gripper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6903720" y="246888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Precise Grip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Control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4"/>
          <p:cNvSpPr/>
          <p:nvPr/>
        </p:nvSpPr>
        <p:spPr>
          <a:xfrm>
            <a:off x="914400" y="3429000"/>
            <a:ext cx="7314840" cy="456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5"/>
          <p:cNvSpPr/>
          <p:nvPr/>
        </p:nvSpPr>
        <p:spPr>
          <a:xfrm>
            <a:off x="914400" y="3429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Trebuchet MS"/>
                <a:ea typeface="Trebuchet MS"/>
              </a:rPr>
              <a:t>⟳  FEEDBACK LOOP — Continuous Monitoring &amp; Adjustment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6"/>
          <p:cNvSpPr/>
          <p:nvPr/>
        </p:nvSpPr>
        <p:spPr>
          <a:xfrm>
            <a:off x="457200" y="4023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FSR sensor detects grip pressure → ESP32 processes analog signal → Servo adjusts position → Feedback loop maintains precise force.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KEY COMPONENTS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228600" y="82296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365760" y="96012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384120" y="9784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4"/>
          <p:cNvSpPr/>
          <p:nvPr/>
        </p:nvSpPr>
        <p:spPr>
          <a:xfrm>
            <a:off x="941760" y="9144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ESP32 Microcontroller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320040" y="150876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3.3V • Wi-Fi 802.11 b/g/n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12-bit ADC • Dual-core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Multiple GPIO pins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173040" y="82296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310200" y="96012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1" descr="preencoded.png"/>
          <p:cNvPicPr/>
          <p:nvPr/>
        </p:nvPicPr>
        <p:blipFill>
          <a:blip r:embed="rId2"/>
          <a:stretch/>
        </p:blipFill>
        <p:spPr>
          <a:xfrm>
            <a:off x="3328560" y="9784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3886200" y="9144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MG996R Servo Motor (×2)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3264480" y="150876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4.8V–7.2V • 9–11 kg·cm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PWM control • 0°–180°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High torque for linkage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6117480" y="82296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6254640" y="96012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2" descr="preencoded.png"/>
          <p:cNvPicPr/>
          <p:nvPr/>
        </p:nvPicPr>
        <p:blipFill>
          <a:blip r:embed="rId3"/>
          <a:stretch/>
        </p:blipFill>
        <p:spPr>
          <a:xfrm>
            <a:off x="6272640" y="9784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6830640" y="9144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FSR-402 Force Sensor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6208920" y="150876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3.3V–5V via divider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Response &lt; 10 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Analog output signal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228600" y="285300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365760" y="299016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3" descr="preencoded.png"/>
          <p:cNvPicPr/>
          <p:nvPr/>
        </p:nvPicPr>
        <p:blipFill>
          <a:blip r:embed="rId4"/>
          <a:stretch/>
        </p:blipFill>
        <p:spPr>
          <a:xfrm>
            <a:off x="384120" y="30085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941760" y="29444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Power Supply (5V, 2A)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320040" y="353880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5V DC stable output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≥2A current capacity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Prevents servo jitter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3173040" y="285300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3310200" y="299016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5"/>
          <a:stretch/>
        </p:blipFill>
        <p:spPr>
          <a:xfrm>
            <a:off x="3328560" y="30085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20"/>
          <p:cNvSpPr/>
          <p:nvPr/>
        </p:nvSpPr>
        <p:spPr>
          <a:xfrm>
            <a:off x="3886200" y="29444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Resistors &amp; Capacitor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3264480" y="353880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10kΩ — voltage divider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2200µF — bulk decoupling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Signal conditioning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6117480" y="2853000"/>
            <a:ext cx="27428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6254640" y="2990160"/>
            <a:ext cx="475200" cy="475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5" descr="preencoded.png"/>
          <p:cNvPicPr/>
          <p:nvPr/>
        </p:nvPicPr>
        <p:blipFill>
          <a:blip r:embed="rId6"/>
          <a:stretch/>
        </p:blipFill>
        <p:spPr>
          <a:xfrm>
            <a:off x="6272640" y="30085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24"/>
          <p:cNvSpPr/>
          <p:nvPr/>
        </p:nvSpPr>
        <p:spPr>
          <a:xfrm>
            <a:off x="6830640" y="29444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3D Printed Gripper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6208920" y="353880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Soft silicone fingers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Linkage mechanism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Tapered finger design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BILL OF MATERIALS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3" name="Table 0"/>
          <p:cNvGraphicFramePr/>
          <p:nvPr/>
        </p:nvGraphicFramePr>
        <p:xfrm>
          <a:off x="457200" y="822960"/>
          <a:ext cx="8229240" cy="3114720"/>
        </p:xfrm>
        <a:graphic>
          <a:graphicData uri="http://schemas.openxmlformats.org/drawingml/2006/table">
            <a:tbl>
              <a:tblPr/>
              <a:tblGrid>
                <a:gridCol w="3840480"/>
                <a:gridCol w="914400"/>
                <a:gridCol w="1737360"/>
                <a:gridCol w="173736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Component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Qty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Unit Cost (₹)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 (₹)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ESP32 Development Board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Servo Motor MG996R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Force Sensitive Resistor FSR-402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Resistor 10kΩ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Breadboard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Jumper Wires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External Power Supply (5V, 2A)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Electrolytic Capacitor (2200µF)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3D Printed / Mechanical Parts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 set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 USB Cable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31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 2180</a:t>
                      </a: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SIMULATION &amp; CIRCUIT DESIGN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274320" y="822960"/>
            <a:ext cx="3657240" cy="397728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411480" y="8686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System Algorithm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411480" y="13258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Initialize ESP32, GPIO, Servo &amp; FSR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11480" y="17283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Start Wi-Fi Access Point (AP mode)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11480" y="21304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Wait for User Command (Grab/Release)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411480" y="25329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READ FSR sensor value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411480" y="29350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IF force &lt; threshold → close gripper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411480" y="33375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ELSE → stop servo, maintain grip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11480" y="37400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7. Monitor continuously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411480" y="41421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 On Release command → open gripper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4160520" y="822960"/>
            <a:ext cx="470880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4297680" y="8960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Simulation Verified on Wokwi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4316040" y="1389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4"/>
          <p:cNvSpPr/>
          <p:nvPr/>
        </p:nvSpPr>
        <p:spPr>
          <a:xfrm>
            <a:off x="4681800" y="135324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ESP32 + Servo + FSR Simulation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4681800" y="166428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Potentiometer used as FSR-402 stand-in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preencoded.png"/>
          <p:cNvPicPr/>
          <p:nvPr/>
        </p:nvPicPr>
        <p:blipFill>
          <a:blip r:embed="rId2"/>
          <a:stretch/>
        </p:blipFill>
        <p:spPr>
          <a:xfrm>
            <a:off x="4316040" y="2304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6"/>
          <p:cNvSpPr/>
          <p:nvPr/>
        </p:nvSpPr>
        <p:spPr>
          <a:xfrm>
            <a:off x="4681800" y="226764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Access Point Mode Verified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4681800" y="257868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IP: 192.168.4.1 — Web server confirmed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2" descr="preencoded.png"/>
          <p:cNvPicPr/>
          <p:nvPr/>
        </p:nvPicPr>
        <p:blipFill>
          <a:blip r:embed="rId3"/>
          <a:stretch/>
        </p:blipFill>
        <p:spPr>
          <a:xfrm>
            <a:off x="4316040" y="321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8"/>
          <p:cNvSpPr/>
          <p:nvPr/>
        </p:nvSpPr>
        <p:spPr>
          <a:xfrm>
            <a:off x="4681800" y="318204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Closed-loop control tested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4681800" y="349308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Servo responds to FSR threshold changes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4297680" y="38404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Simulation Links: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4297680" y="411948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wokwi.com/projects/462837135965877249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4297680" y="433188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wokwi.com/projects/460221539567272961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OBSERVATION TABLE &amp; RESULTS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274320" y="8046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FSR Value vs. Servo Angle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Table 0"/>
          <p:cNvGraphicFramePr/>
          <p:nvPr/>
        </p:nvGraphicFramePr>
        <p:xfrm>
          <a:off x="274320" y="1188720"/>
          <a:ext cx="4114440" cy="1373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FSR Value (ADC)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Servo Angle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Gripper State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30°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800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60°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Partially Closed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1500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90°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Holding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9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2500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110°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Firm Grip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Text 3"/>
          <p:cNvSpPr/>
          <p:nvPr/>
        </p:nvSpPr>
        <p:spPr>
          <a:xfrm>
            <a:off x="274320" y="28803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Command vs. Response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Table 1"/>
          <p:cNvGraphicFramePr/>
          <p:nvPr/>
        </p:nvGraphicFramePr>
        <p:xfrm>
          <a:off x="274320" y="3246120"/>
          <a:ext cx="4114440" cy="8240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Input Command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Servo Action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Grab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Servo Closes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Object Gripped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Release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Servo Opens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Object Released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0E4F0"/>
                      </a:solidFill>
                      <a:prstDash val="solid"/>
                    </a:lnL>
                    <a:lnR w="12240">
                      <a:solidFill>
                        <a:srgbClr val="D0E4F0"/>
                      </a:solidFill>
                      <a:prstDash val="solid"/>
                    </a:lnR>
                    <a:lnT w="12240">
                      <a:solidFill>
                        <a:srgbClr val="D0E4F0"/>
                      </a:solidFill>
                      <a:prstDash val="solid"/>
                    </a:lnT>
                    <a:lnB w="12240">
                      <a:solidFill>
                        <a:srgbClr val="D0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Text 4"/>
          <p:cNvSpPr/>
          <p:nvPr/>
        </p:nvSpPr>
        <p:spPr>
          <a:xfrm>
            <a:off x="4663440" y="80460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FSR Value vs. Servo Angle (Graph)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7" name="Chart 0"/>
          <p:cNvGraphicFramePr/>
          <p:nvPr/>
        </p:nvGraphicFramePr>
        <p:xfrm>
          <a:off x="4572000" y="1188720"/>
          <a:ext cx="429732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CONCLUSION &amp; FUTURE SCOPE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274320" y="822960"/>
            <a:ext cx="8595000" cy="1554120"/>
          </a:xfrm>
          <a:prstGeom prst="rect">
            <a:avLst/>
          </a:prstGeom>
          <a:solidFill>
            <a:srgbClr val="1B3A6B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457200" y="86868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Conclusion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457200" y="1261800"/>
            <a:ext cx="8229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Successfully implemented a closed-loop, force-sensing gripper using ESP32 + MG996R Servo + FSR-402. The system dynamically adjusts grip strength in real-time via a wireless web interface, enabling safe and adaptive handling of delicate objects without damage. The design validates key embedded concepts: signal conditioning, PWM actuation, and real-time control.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274320" y="25146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Future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274320" y="2926080"/>
            <a:ext cx="20570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1024200" y="303588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1042560" y="3054240"/>
            <a:ext cx="465840" cy="46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8"/>
          <p:cNvSpPr/>
          <p:nvPr/>
        </p:nvSpPr>
        <p:spPr>
          <a:xfrm>
            <a:off x="347400" y="358452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Multi-DOF Arm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347400" y="3950280"/>
            <a:ext cx="1901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Extend to full 6-DOF robotic arm with object manipulation and positioning.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0"/>
          <p:cNvSpPr/>
          <p:nvPr/>
        </p:nvSpPr>
        <p:spPr>
          <a:xfrm>
            <a:off x="2468880" y="2926080"/>
            <a:ext cx="20570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1"/>
          <p:cNvSpPr/>
          <p:nvPr/>
        </p:nvSpPr>
        <p:spPr>
          <a:xfrm>
            <a:off x="3218760" y="303588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1" descr="preencoded.png"/>
          <p:cNvPicPr/>
          <p:nvPr/>
        </p:nvPicPr>
        <p:blipFill>
          <a:blip r:embed="rId2"/>
          <a:stretch/>
        </p:blipFill>
        <p:spPr>
          <a:xfrm>
            <a:off x="3237120" y="3054240"/>
            <a:ext cx="465840" cy="46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2"/>
          <p:cNvSpPr/>
          <p:nvPr/>
        </p:nvSpPr>
        <p:spPr>
          <a:xfrm>
            <a:off x="2541960" y="358452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AI-Based Vision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2541960" y="3950280"/>
            <a:ext cx="1901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Integrate camera + ML for autonomous object detection and adaptive grip.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4663440" y="2926080"/>
            <a:ext cx="20570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5413320" y="303588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2" descr="preencoded.png"/>
          <p:cNvPicPr/>
          <p:nvPr/>
        </p:nvPicPr>
        <p:blipFill>
          <a:blip r:embed="rId3"/>
          <a:stretch/>
        </p:blipFill>
        <p:spPr>
          <a:xfrm>
            <a:off x="5431680" y="3054240"/>
            <a:ext cx="465840" cy="46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6"/>
          <p:cNvSpPr/>
          <p:nvPr/>
        </p:nvSpPr>
        <p:spPr>
          <a:xfrm>
            <a:off x="4736520" y="358452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Higher Precision Actuators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4736520" y="3950280"/>
            <a:ext cx="1901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Replace servos with stepper or DC motors with encoders for finer control.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>
            <a:off x="6858000" y="2926080"/>
            <a:ext cx="20570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7607880" y="3035880"/>
            <a:ext cx="502560" cy="5025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3" descr="preencoded.png"/>
          <p:cNvPicPr/>
          <p:nvPr/>
        </p:nvPicPr>
        <p:blipFill>
          <a:blip r:embed="rId4"/>
          <a:stretch/>
        </p:blipFill>
        <p:spPr>
          <a:xfrm>
            <a:off x="7626240" y="3054240"/>
            <a:ext cx="465840" cy="46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0"/>
          <p:cNvSpPr/>
          <p:nvPr/>
        </p:nvSpPr>
        <p:spPr>
          <a:xfrm>
            <a:off x="6931080" y="358452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3A6B"/>
                </a:solidFill>
                <a:effectLst/>
                <a:uFillTx/>
                <a:latin typeface="Trebuchet MS"/>
                <a:ea typeface="Trebuchet MS"/>
              </a:rPr>
              <a:t>Industrial Applications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6931080" y="3950280"/>
            <a:ext cx="1901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Scale to medical handling, food industry, and fragile object automation.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-1097280" y="-1097280"/>
            <a:ext cx="4114440" cy="4114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"/>
          <p:cNvSpPr/>
          <p:nvPr/>
        </p:nvSpPr>
        <p:spPr>
          <a:xfrm>
            <a:off x="7315200" y="2743200"/>
            <a:ext cx="3200040" cy="3200040"/>
          </a:xfrm>
          <a:prstGeom prst="ellipse">
            <a:avLst/>
          </a:prstGeom>
          <a:solidFill>
            <a:srgbClr val="112244"/>
          </a:solidFill>
          <a:ln w="12700">
            <a:solidFill>
              <a:srgbClr val="1122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0" y="2194560"/>
            <a:ext cx="9143640" cy="45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457200" y="73152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400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You!</a:t>
            </a:r>
            <a:endParaRPr lang="en-GB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457200" y="1719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B4D8"/>
                </a:solidFill>
                <a:effectLst/>
                <a:uFillTx/>
                <a:latin typeface="Trebuchet MS"/>
                <a:ea typeface="Trebuchet MS"/>
              </a:rPr>
              <a:t>Questions &amp; Discussion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24688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Project: Softy – Soft Touch Robotic Arm Gripper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457200" y="30175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Ashutosh Sharma • Samrudhi Naik• Amruta Pawar 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57200" y="34016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MIT Academy of Engineering  |  ENTC Dept.  |  May 2026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457200" y="3749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libri"/>
                <a:ea typeface="Calibri"/>
              </a:rPr>
              <a:t>Guided by: Prof. Dhananjay Devare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457200" y="4251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Video: youtu.be/d0LRWnBDcW4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LibreOffice/26.2.1.2$Windows_X86_64 LibreOffice_project/620$Build-2</Application>
  <AppVersion>15.0000</AppVersion>
  <Words>881</Words>
  <Paragraphs>214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2026-05-10T19:29:49Z</dcterms:created>
  <dc:creator>Ashutosh Sharma, Amruta Pawar, Samrudhi Naik</dc:creator>
  <dc:description/>
  <dc:language>en-GB</dc:language>
  <cp:lastModifiedBy/>
  <dcterms:modified xsi:type="dcterms:W3CDTF">2026-05-11T01:35:59Z</dcterms:modified>
  <cp:revision>4</cp:revision>
  <dc:subject>PptxGenJS Presentation</dc:subject>
  <dc:title>Softy – Soft Touch Robotic Arm Gripper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